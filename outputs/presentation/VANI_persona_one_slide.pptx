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de8421ee-6c40-0f5f-ea4a-ce955a17f29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= how VANI speaks; goal = what the call achieves. Both are set from seller data and switch live on 20 playbook signals. Numbers on this slide are read from outputs/ at build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38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persona and a goal for every seller, adapted live from real calls</a:t>
            </a:r>
            <a:endParaRPr lang="en-US" sz="27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Problem 4 · Persona Design  |  Sarvam: Saaras v4 STT · sarvam-105b LLM · Bulbul v4 TTS (Hindi, English, Telugu)</a:t>
            </a:r>
            <a:endParaRPr lang="en-US" sz="1300" dirty="0"/>
          </a:p>
        </p:txBody>
      </p:sp>
      <p:sp>
        <p:nvSpPr>
          <p:cNvPr id="4" name="spec card"/>
          <p:cNvSpPr/>
          <p:nvPr/>
        </p:nvSpPr>
        <p:spPr>
          <a:xfrm>
            <a:off x="411480" y="1143000"/>
            <a:ext cx="393192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pec heading"/>
          <p:cNvSpPr txBox="1"/>
          <p:nvPr/>
        </p:nvSpPr>
        <p:spPr>
          <a:xfrm>
            <a:off x="594360" y="1252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persona + goal</a:t>
            </a:r>
            <a:endParaRPr lang="en-US" sz="1500" dirty="0"/>
          </a:p>
        </p:txBody>
      </p:sp>
      <p:sp>
        <p:nvSpPr>
          <p:cNvPr id="6" name="spec seller"/>
          <p:cNvSpPr txBox="1"/>
          <p:nvPr/>
        </p:nvSpPr>
        <p:spPr>
          <a:xfrm>
            <a:off x="5943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Seller 56768582 · Hyderabad rice-bran firm · ₹25–100 Cr · lead bucket UA</a:t>
            </a:r>
            <a:endParaRPr lang="en-US" sz="1100" dirty="0"/>
          </a:p>
        </p:txBody>
      </p:sp>
      <p:graphicFrame>
        <p:nvGraphicFramePr>
          <p:cNvPr id="2" name="spe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3566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6974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Seller type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Busy business owner (turnover ≥ ₹5 Cr)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Voice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Rohan · crisp male · shubh_hi_customer · pace 0.98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Language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Hinglish, Telugu offered (Telangana)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Tone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Empathy 3 · assertiveness 4 · ~17 words a turn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Goal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Understand first, then meeting; fallbacks callback, WhatsApp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Opening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“…Hyderabad में आपकी De Oiled Rice Bran category में काफ़ी buyer enquiries आई हैं। काम कैसा चल रहा है?”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Guardrails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Never human · no prices or results · no pitch after a complaint</a:t>
                      </a:r>
                      <a:endParaRPr lang="en-US" sz="1100" dirty="0"/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evidence heading"/>
          <p:cNvSpPr txBox="1"/>
          <p:nvPr/>
        </p:nvSpPr>
        <p:spPr>
          <a:xfrm>
            <a:off x="4526280" y="1252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learning</a:t>
            </a:r>
            <a:endParaRPr lang="en-US" sz="1500" dirty="0"/>
          </a:p>
        </p:txBody>
      </p:sp>
      <p:sp>
        <p:nvSpPr>
          <p:cNvPr id="9" name="stat 1 value"/>
          <p:cNvSpPr txBox="1"/>
          <p:nvPr/>
        </p:nvSpPr>
        <p:spPr>
          <a:xfrm>
            <a:off x="4526280" y="16184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 vs 46%</a:t>
            </a:r>
            <a:endParaRPr lang="en-US" sz="2200" dirty="0"/>
          </a:p>
        </p:txBody>
      </p:sp>
      <p:sp>
        <p:nvSpPr>
          <p:cNvPr id="10" name="stat 1 label"/>
          <p:cNvSpPr txBox="1"/>
          <p:nvPr/>
        </p:nvSpPr>
        <p:spPr>
          <a:xfrm>
            <a:off x="4526280" y="196596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Not-Interested on the 4th+ call vs the 1st (269k calls) → fatigued type: apologise, soft ask</a:t>
            </a:r>
            <a:endParaRPr lang="en-US" sz="1100" dirty="0"/>
          </a:p>
        </p:txBody>
      </p:sp>
      <p:sp>
        <p:nvSpPr>
          <p:cNvPr id="11" name="stat 2 value"/>
          <p:cNvSpPr txBox="1"/>
          <p:nvPr/>
        </p:nvSpPr>
        <p:spPr>
          <a:xfrm>
            <a:off x="4526280" y="2468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18</a:t>
            </a:r>
            <a:endParaRPr lang="en-US" sz="2200" dirty="0"/>
          </a:p>
        </p:txBody>
      </p:sp>
      <p:sp>
        <p:nvSpPr>
          <p:cNvPr id="12" name="stat 2 label"/>
          <p:cNvSpPr txBox="1"/>
          <p:nvPr/>
        </p:nvSpPr>
        <p:spPr>
          <a:xfrm>
            <a:off x="4526280" y="28163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price questions in 83 real recordings got a price quoted → hard price guard</a:t>
            </a:r>
            <a:endParaRPr lang="en-US" sz="1100" dirty="0"/>
          </a:p>
        </p:txBody>
      </p:sp>
      <p:sp>
        <p:nvSpPr>
          <p:cNvPr id="13" name="stat 3 value"/>
          <p:cNvSpPr txBox="1"/>
          <p:nvPr/>
        </p:nvSpPr>
        <p:spPr>
          <a:xfrm>
            <a:off x="4526280" y="33192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17/18</a:t>
            </a:r>
            <a:endParaRPr lang="en-US" sz="2200" dirty="0"/>
          </a:p>
        </p:txBody>
      </p:sp>
      <p:sp>
        <p:nvSpPr>
          <p:cNvPr id="14" name="stat 3 label"/>
          <p:cNvSpPr txBox="1"/>
          <p:nvPr/>
        </p:nvSpPr>
        <p:spPr>
          <a:xfrm>
            <a:off x="4526280" y="36667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real moments the old bot got wrong, now handled per the playbook</a:t>
            </a:r>
            <a:endParaRPr lang="en-US" sz="1100" dirty="0"/>
          </a:p>
        </p:txBody>
      </p:sp>
      <p:sp>
        <p:nvSpPr>
          <p:cNvPr id="15" name="stat 4 value"/>
          <p:cNvSpPr txBox="1"/>
          <p:nvPr/>
        </p:nvSpPr>
        <p:spPr>
          <a:xfrm>
            <a:off x="4526280" y="416966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0.646</a:t>
            </a:r>
            <a:endParaRPr lang="en-US" sz="2200" dirty="0"/>
          </a:p>
        </p:txBody>
      </p:sp>
      <p:sp>
        <p:nvSpPr>
          <p:cNvPr id="16" name="stat 4 label"/>
          <p:cNvSpPr txBox="1"/>
          <p:nvPr/>
        </p:nvSpPr>
        <p:spPr>
          <a:xfrm>
            <a:off x="4526280" y="451713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hang-up risk model vs 0.564 for keywords (held-out calls)</a:t>
            </a:r>
            <a:endParaRPr lang="en-US" sz="1100" dirty="0"/>
          </a:p>
        </p:txBody>
      </p:sp>
      <p:sp>
        <p:nvSpPr>
          <p:cNvPr id="17" name="switch card"/>
          <p:cNvSpPr/>
          <p:nvPr/>
        </p:nvSpPr>
        <p:spPr>
          <a:xfrm>
            <a:off x="8321040" y="1143000"/>
            <a:ext cx="3456432" cy="3931920"/>
          </a:xfrm>
          <a:prstGeom prst="roundRect">
            <a:avLst>
              <a:gd name="adj" fmla="val 211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witch heading"/>
          <p:cNvSpPr txBox="1"/>
          <p:nvPr/>
        </p:nvSpPr>
        <p:spPr>
          <a:xfrm>
            <a:off x="8503920" y="1252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switch log (demo call)</a:t>
            </a:r>
            <a:endParaRPr lang="en-US" sz="1500" dirty="0"/>
          </a:p>
        </p:txBody>
      </p:sp>
      <p:sp>
        <p:nvSpPr>
          <p:cNvPr id="19" name="switch 1 trigger"/>
          <p:cNvSpPr txBox="1"/>
          <p:nvPr/>
        </p:nvSpPr>
        <p:spPr>
          <a:xfrm>
            <a:off x="8503920" y="161848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turn 1 · identity question</a:t>
            </a:r>
            <a:endParaRPr lang="en-US" sz="1150" dirty="0"/>
          </a:p>
        </p:txBody>
      </p:sp>
      <p:sp>
        <p:nvSpPr>
          <p:cNvPr id="20" name="switch 1 change"/>
          <p:cNvSpPr txBox="1"/>
          <p:nvPr/>
        </p:nvSpPr>
        <p:spPr>
          <a:xfrm>
            <a:off x="8503920" y="185623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persona → TRANSPARENT (regex)</a:t>
            </a:r>
            <a:endParaRPr lang="en-US" sz="1100" dirty="0"/>
          </a:p>
        </p:txBody>
      </p:sp>
      <p:sp>
        <p:nvSpPr>
          <p:cNvPr id="21" name="switch 2 trigger"/>
          <p:cNvSpPr txBox="1"/>
          <p:nvPr/>
        </p:nvSpPr>
        <p:spPr>
          <a:xfrm>
            <a:off x="8503920" y="216712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turn 3 · language switch</a:t>
            </a:r>
            <a:endParaRPr lang="en-US" sz="1150" dirty="0"/>
          </a:p>
        </p:txBody>
      </p:sp>
      <p:sp>
        <p:nvSpPr>
          <p:cNvPr id="22" name="switch 2 change"/>
          <p:cNvSpPr txBox="1"/>
          <p:nvPr/>
        </p:nvSpPr>
        <p:spPr>
          <a:xfrm>
            <a:off x="8503920" y="24048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language hi-IN → te-IN, same voice (stt_language)</a:t>
            </a:r>
            <a:endParaRPr lang="en-US" sz="1100" dirty="0"/>
          </a:p>
        </p:txBody>
      </p:sp>
      <p:sp>
        <p:nvSpPr>
          <p:cNvPr id="23" name="switch 3 trigger"/>
          <p:cNvSpPr txBox="1"/>
          <p:nvPr/>
        </p:nvSpPr>
        <p:spPr>
          <a:xfrm>
            <a:off x="8503920" y="271576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turn 3 · do not call</a:t>
            </a:r>
            <a:endParaRPr lang="en-US" sz="1150" dirty="0"/>
          </a:p>
        </p:txBody>
      </p:sp>
      <p:sp>
        <p:nvSpPr>
          <p:cNvPr id="24" name="switch 3 change"/>
          <p:cNvSpPr txBox="1"/>
          <p:nvPr/>
        </p:nvSpPr>
        <p:spPr>
          <a:xfrm>
            <a:off x="8503920" y="29535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ending DO_NOT_CALL (regex)</a:t>
            </a:r>
            <a:endParaRPr lang="en-US" sz="1100" dirty="0"/>
          </a:p>
        </p:txBody>
      </p:sp>
      <p:sp>
        <p:nvSpPr>
          <p:cNvPr id="25" name="workflow heading"/>
          <p:cNvSpPr txBox="1"/>
          <p:nvPr/>
        </p:nvSpPr>
        <p:spPr>
          <a:xfrm>
            <a:off x="411480" y="5257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6" name="step 1 box"/>
          <p:cNvSpPr/>
          <p:nvPr/>
        </p:nvSpPr>
        <p:spPr>
          <a:xfrm>
            <a:off x="411480" y="5559552"/>
            <a:ext cx="1463040" cy="676656"/>
          </a:xfrm>
          <a:prstGeom prst="roundRect">
            <a:avLst>
              <a:gd name="adj" fmla="val 810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step 1 text"/>
          <p:cNvSpPr txBox="1"/>
          <p:nvPr/>
        </p:nvSpPr>
        <p:spPr>
          <a:xfrm>
            <a:off x="484632" y="560527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Seller data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+ summaries, own speech</a:t>
            </a:r>
            <a:endParaRPr lang="en-US" sz="1150" dirty="0"/>
          </a:p>
        </p:txBody>
      </p:sp>
      <p:sp>
        <p:nvSpPr>
          <p:cNvPr id="28" name="arrow 1"/>
          <p:cNvSpPr/>
          <p:nvPr/>
        </p:nvSpPr>
        <p:spPr>
          <a:xfrm rot="5400000">
            <a:off x="1911096" y="5824728"/>
            <a:ext cx="109728" cy="14630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step 2 box"/>
          <p:cNvSpPr/>
          <p:nvPr/>
        </p:nvSpPr>
        <p:spPr>
          <a:xfrm>
            <a:off x="2057400" y="5559552"/>
            <a:ext cx="1463040" cy="676656"/>
          </a:xfrm>
          <a:prstGeom prst="roundRect">
            <a:avLst>
              <a:gd name="adj" fmla="val 810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step 2 text"/>
          <p:cNvSpPr txBox="1"/>
          <p:nvPr/>
        </p:nvSpPr>
        <p:spPr>
          <a:xfrm>
            <a:off x="2130552" y="560527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Persona + goal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 types, 9 goals</a:t>
            </a:r>
            <a:endParaRPr lang="en-US" sz="1150" dirty="0"/>
          </a:p>
        </p:txBody>
      </p:sp>
      <p:sp>
        <p:nvSpPr>
          <p:cNvPr id="31" name="arrow 2"/>
          <p:cNvSpPr/>
          <p:nvPr/>
        </p:nvSpPr>
        <p:spPr>
          <a:xfrm rot="5400000">
            <a:off x="3557016" y="5824728"/>
            <a:ext cx="109728" cy="14630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step 3 box"/>
          <p:cNvSpPr/>
          <p:nvPr/>
        </p:nvSpPr>
        <p:spPr>
          <a:xfrm>
            <a:off x="3703320" y="5559552"/>
            <a:ext cx="1463040" cy="676656"/>
          </a:xfrm>
          <a:prstGeom prst="roundRect">
            <a:avLst>
              <a:gd name="adj" fmla="val 810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step 3 text"/>
          <p:cNvSpPr txBox="1"/>
          <p:nvPr/>
        </p:nvSpPr>
        <p:spPr>
          <a:xfrm>
            <a:off x="3776472" y="560527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Saaras v4 STT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Roman text + language</a:t>
            </a:r>
            <a:endParaRPr lang="en-US" sz="1150" dirty="0"/>
          </a:p>
        </p:txBody>
      </p:sp>
      <p:sp>
        <p:nvSpPr>
          <p:cNvPr id="34" name="arrow 3"/>
          <p:cNvSpPr/>
          <p:nvPr/>
        </p:nvSpPr>
        <p:spPr>
          <a:xfrm rot="5400000">
            <a:off x="5202936" y="5824728"/>
            <a:ext cx="109728" cy="14630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step 4 box"/>
          <p:cNvSpPr/>
          <p:nvPr/>
        </p:nvSpPr>
        <p:spPr>
          <a:xfrm>
            <a:off x="5349240" y="5559552"/>
            <a:ext cx="1463040" cy="676656"/>
          </a:xfrm>
          <a:prstGeom prst="roundRect">
            <a:avLst>
              <a:gd name="adj" fmla="val 810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step 4 text"/>
          <p:cNvSpPr txBox="1"/>
          <p:nvPr/>
        </p:nvSpPr>
        <p:spPr>
          <a:xfrm>
            <a:off x="5422392" y="560527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Tier 1 + risk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regex, language, hang-up model</a:t>
            </a:r>
            <a:endParaRPr lang="en-US" sz="1150" dirty="0"/>
          </a:p>
        </p:txBody>
      </p:sp>
      <p:sp>
        <p:nvSpPr>
          <p:cNvPr id="37" name="arrow 4"/>
          <p:cNvSpPr/>
          <p:nvPr/>
        </p:nvSpPr>
        <p:spPr>
          <a:xfrm rot="5400000">
            <a:off x="6848856" y="5824728"/>
            <a:ext cx="109728" cy="14630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step 5 box"/>
          <p:cNvSpPr/>
          <p:nvPr/>
        </p:nvSpPr>
        <p:spPr>
          <a:xfrm>
            <a:off x="6995160" y="5559552"/>
            <a:ext cx="1463040" cy="676656"/>
          </a:xfrm>
          <a:prstGeom prst="roundRect">
            <a:avLst>
              <a:gd name="adj" fmla="val 810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step 5 text"/>
          <p:cNvSpPr txBox="1"/>
          <p:nvPr/>
        </p:nvSpPr>
        <p:spPr>
          <a:xfrm>
            <a:off x="7068312" y="560527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sarvam-105b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tier-2 signals + reply</a:t>
            </a:r>
            <a:endParaRPr lang="en-US" sz="1150" dirty="0"/>
          </a:p>
        </p:txBody>
      </p:sp>
      <p:sp>
        <p:nvSpPr>
          <p:cNvPr id="40" name="arrow 5"/>
          <p:cNvSpPr/>
          <p:nvPr/>
        </p:nvSpPr>
        <p:spPr>
          <a:xfrm rot="5400000">
            <a:off x="8494776" y="5824728"/>
            <a:ext cx="109728" cy="14630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step 6 box"/>
          <p:cNvSpPr/>
          <p:nvPr/>
        </p:nvSpPr>
        <p:spPr>
          <a:xfrm>
            <a:off x="8641080" y="5559552"/>
            <a:ext cx="1463040" cy="676656"/>
          </a:xfrm>
          <a:prstGeom prst="roundRect">
            <a:avLst>
              <a:gd name="adj" fmla="val 810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step 6 text"/>
          <p:cNvSpPr txBox="1"/>
          <p:nvPr/>
        </p:nvSpPr>
        <p:spPr>
          <a:xfrm>
            <a:off x="8714232" y="560527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Guards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playbook rules, earned endings</a:t>
            </a:r>
            <a:endParaRPr lang="en-US" sz="1150" dirty="0"/>
          </a:p>
        </p:txBody>
      </p:sp>
      <p:sp>
        <p:nvSpPr>
          <p:cNvPr id="43" name="arrow 6"/>
          <p:cNvSpPr/>
          <p:nvPr/>
        </p:nvSpPr>
        <p:spPr>
          <a:xfrm rot="5400000">
            <a:off x="10140696" y="5824728"/>
            <a:ext cx="109728" cy="14630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step 7 box"/>
          <p:cNvSpPr/>
          <p:nvPr/>
        </p:nvSpPr>
        <p:spPr>
          <a:xfrm>
            <a:off x="10287000" y="5559552"/>
            <a:ext cx="1463040" cy="676656"/>
          </a:xfrm>
          <a:prstGeom prst="roundRect">
            <a:avLst>
              <a:gd name="adj" fmla="val 810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5" name="step 7 text"/>
          <p:cNvSpPr txBox="1"/>
          <p:nvPr/>
        </p:nvSpPr>
        <p:spPr>
          <a:xfrm>
            <a:off x="10360152" y="560527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Bulbul v4 TTS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same voice, any language</a:t>
            </a:r>
            <a:endParaRPr lang="en-US" sz="1150" dirty="0"/>
          </a:p>
        </p:txBody>
      </p:sp>
      <p:sp>
        <p:nvSpPr>
          <p:cNvPr id="46" name="footer facts"/>
          <p:cNvSpPr txBox="1"/>
          <p:nvPr/>
        </p:nvSpPr>
        <p:spPr>
          <a:xfrm>
            <a:off x="411480" y="63276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Playbook scenario suite 23/23 on the live LLM · held-out signal recall vs IndiaMART labels: frustration 0.50, AI-bot 0.96 · 149,363 personas in ~18 s · 105 offline tests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 Persona">
  <a:themeElements>
    <a:clrScheme name="VANI Persona">
      <a:dk1>
        <a:srgbClr val="1B2238"/>
      </a:dk1>
      <a:lt1>
        <a:srgbClr val="FFFFFF"/>
      </a:lt1>
      <a:dk2>
        <a:srgbClr val="4A5268"/>
      </a:dk2>
      <a:lt2>
        <a:srgbClr val="F2F4F7"/>
      </a:lt2>
      <a:accent1>
        <a:srgbClr val="C2410C"/>
      </a:accent1>
      <a:accent2>
        <a:srgbClr val="0F766E"/>
      </a:accent2>
      <a:accent3>
        <a:srgbClr val="1B2238"/>
      </a:accent3>
      <a:accent4>
        <a:srgbClr val="E7EEF6"/>
      </a:accent4>
      <a:accent5>
        <a:srgbClr val="FDECE2"/>
      </a:accent5>
      <a:accent6>
        <a:srgbClr val="E3F2F0"/>
      </a:accent6>
      <a:hlink>
        <a:srgbClr val="0F766E"/>
      </a:hlink>
      <a:folHlink>
        <a:srgbClr val="4A5268"/>
      </a:folHlink>
    </a:clrScheme>
    <a:fontScheme name="VANI Perso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VANI seller-fit persona</dc:title>
  <dc:subject>PptxGenJS Presentation</dc:subject>
  <dc:creator>PptxGenJS</dc:creator>
  <cp:lastModifiedBy>PptxGenJS</cp:lastModifiedBy>
  <cp:revision>1</cp:revision>
  <dcterms:created xsi:type="dcterms:W3CDTF">2026-10-09T13:19:14Z</dcterms:created>
  <dcterms:modified xsi:type="dcterms:W3CDTF">2026-10-09T13:19:14Z</dcterms:modified>
</cp:coreProperties>
</file>